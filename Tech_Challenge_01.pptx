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Roboto Condensed" panose="02000000000000000000" pitchFamily="2" charset="0"/>
      <p:regular r:id="rId13"/>
    </p:embeddedFont>
    <p:embeddedFont>
      <p:font typeface="Roboto Slab" pitchFamily="2" charset="0"/>
      <p:regular r:id="rId14"/>
    </p:embeddedFont>
    <p:embeddedFont>
      <p:font typeface="Roboto Slab Bold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sv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30169" y="7407407"/>
            <a:ext cx="1224101" cy="12241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9072" y="1055420"/>
            <a:ext cx="1675774" cy="16757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56697" y="802843"/>
            <a:ext cx="8681313" cy="86813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593989" y="-907041"/>
            <a:ext cx="3924921" cy="39249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448177" y="0"/>
            <a:ext cx="2839823" cy="1341816"/>
          </a:xfrm>
          <a:custGeom>
            <a:avLst/>
            <a:gdLst/>
            <a:ahLst/>
            <a:cxnLst/>
            <a:rect l="l" t="t" r="r" b="b"/>
            <a:pathLst>
              <a:path w="2839823" h="1341816">
                <a:moveTo>
                  <a:pt x="0" y="0"/>
                </a:moveTo>
                <a:lnTo>
                  <a:pt x="2839823" y="0"/>
                </a:lnTo>
                <a:lnTo>
                  <a:pt x="2839823" y="1341816"/>
                </a:lnTo>
                <a:lnTo>
                  <a:pt x="0" y="134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810166" y="4034469"/>
            <a:ext cx="12667668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DIAGNÓSTICO DA EXPERIÊNCIA DO CLIENTE NO E-COMMERCE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8729" y="6131948"/>
            <a:ext cx="14531439" cy="100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DARWIN VALENTE 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DIRETORIA NEGÓCIOS PF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MAIO/2026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1"/>
    </mc:Choice>
    <mc:Fallback xmlns="">
      <p:transition spd="slow" advTm="89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5">
            <a:extLst>
              <a:ext uri="{FF2B5EF4-FFF2-40B4-BE49-F238E27FC236}">
                <a16:creationId xmlns:a16="http://schemas.microsoft.com/office/drawing/2014/main" id="{98F4C188-CA9E-7CFA-F22D-F39D58C68431}"/>
              </a:ext>
            </a:extLst>
          </p:cNvPr>
          <p:cNvGrpSpPr/>
          <p:nvPr/>
        </p:nvGrpSpPr>
        <p:grpSpPr>
          <a:xfrm>
            <a:off x="1471103" y="1485900"/>
            <a:ext cx="13999838" cy="8801100"/>
            <a:chOff x="0" y="0"/>
            <a:chExt cx="812800" cy="969944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A1A9E885-D145-031C-8E9D-72C49D21FB57}"/>
                </a:ext>
              </a:extLst>
            </p:cNvPr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51996BA9-1765-4342-1317-BF2231E21D3E}"/>
                </a:ext>
              </a:extLst>
            </p:cNvPr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9100" y="1434264"/>
            <a:ext cx="7320476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69100" y="4848132"/>
            <a:ext cx="7994582" cy="4997231"/>
          </a:xfrm>
          <a:custGeom>
            <a:avLst/>
            <a:gdLst/>
            <a:ahLst/>
            <a:cxnLst/>
            <a:rect l="l" t="t" r="r" b="b"/>
            <a:pathLst>
              <a:path w="7994582" h="4997231">
                <a:moveTo>
                  <a:pt x="0" y="0"/>
                </a:moveTo>
                <a:lnTo>
                  <a:pt x="7994582" y="0"/>
                </a:lnTo>
                <a:lnTo>
                  <a:pt x="7994582" y="4997231"/>
                </a:lnTo>
                <a:lnTo>
                  <a:pt x="0" y="4997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73" t="-739" r="-597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52600" y="1492688"/>
            <a:ext cx="11136935" cy="149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Crescimento acelerado das vendas e maior volumetria de pedidos.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Maior desafio na experiência do cliente.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Como saber se o cliente está satisfeito?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5969" y="736098"/>
            <a:ext cx="6072037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CONTEXTO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6395" y="3845644"/>
            <a:ext cx="9044912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NPS: NET PROMOTER SCORE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2662" y="4232090"/>
            <a:ext cx="5440971" cy="5728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endParaRPr dirty="0"/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Metodologia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para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medir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nível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satisfação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BF63"/>
                </a:solidFill>
                <a:latin typeface="Roboto Slab"/>
                <a:ea typeface="Roboto Slab"/>
                <a:cs typeface="Roboto Slab"/>
                <a:sym typeface="Roboto Slab"/>
              </a:rPr>
              <a:t>Promotores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compram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indicam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FE0704"/>
                </a:solidFill>
                <a:latin typeface="Roboto Slab"/>
                <a:ea typeface="Roboto Slab"/>
                <a:cs typeface="Roboto Slab"/>
                <a:sym typeface="Roboto Slab"/>
              </a:rPr>
              <a:t>Detratores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: churn 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reputação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negativa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Pesquisa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enviada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entrega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produto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NPS é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medido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após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 jornada.</a:t>
            </a:r>
          </a:p>
          <a:p>
            <a:pPr algn="l">
              <a:lnSpc>
                <a:spcPts val="4056"/>
              </a:lnSpc>
            </a:pPr>
            <a:endParaRPr lang="en-US" sz="2400" spc="-72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55"/>
    </mc:Choice>
    <mc:Fallback xmlns="">
      <p:transition spd="slow" advTm="387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485900"/>
            <a:ext cx="13999838" cy="8801100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26395" y="6864650"/>
            <a:ext cx="4270321" cy="2459653"/>
          </a:xfrm>
          <a:custGeom>
            <a:avLst/>
            <a:gdLst/>
            <a:ahLst/>
            <a:cxnLst/>
            <a:rect l="l" t="t" r="r" b="b"/>
            <a:pathLst>
              <a:path w="4270321" h="2459653">
                <a:moveTo>
                  <a:pt x="0" y="0"/>
                </a:moveTo>
                <a:lnTo>
                  <a:pt x="4270321" y="0"/>
                </a:lnTo>
                <a:lnTo>
                  <a:pt x="4270321" y="2459653"/>
                </a:lnTo>
                <a:lnTo>
                  <a:pt x="0" y="245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52231" y="1358601"/>
            <a:ext cx="12727285" cy="561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NPS serve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um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farol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para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diagnosticar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satisfeito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estão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nossos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com 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experiência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tanto da jornada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quanto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produto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em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si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algn="l">
              <a:lnSpc>
                <a:spcPts val="4056"/>
              </a:lnSpc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partir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desse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indicador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é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possível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verificar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onde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o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está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insatisfeito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buscar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melhorias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áreas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internas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 Por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exemplo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</a:p>
          <a:p>
            <a:pPr algn="l">
              <a:lnSpc>
                <a:spcPts val="4056"/>
              </a:lnSpc>
            </a:pPr>
            <a:endParaRPr lang="en-US" sz="2400" spc="-72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Logística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→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tentativas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entrega</a:t>
            </a:r>
            <a:endParaRPr lang="en-US" sz="2400" spc="-72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Atendimento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→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contatos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resolução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dos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problemas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Produto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→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expectativa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vs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realidade</a:t>
            </a:r>
            <a:endParaRPr lang="en-US" sz="2400" spc="-72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Pricing/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Frete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→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percepção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valor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CRM →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retenção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recompra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ou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falha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na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spc="-72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comunicação</a:t>
            </a:r>
            <a:r>
              <a:rPr lang="en-US" sz="2400" spc="-72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algn="l">
              <a:lnSpc>
                <a:spcPts val="4056"/>
              </a:lnSpc>
            </a:pPr>
            <a:endParaRPr lang="en-US" sz="2400" spc="-72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0674475" y="3115940"/>
            <a:ext cx="3011567" cy="3361530"/>
          </a:xfrm>
          <a:custGeom>
            <a:avLst/>
            <a:gdLst/>
            <a:ahLst/>
            <a:cxnLst/>
            <a:rect l="l" t="t" r="r" b="b"/>
            <a:pathLst>
              <a:path w="3011567" h="3361530">
                <a:moveTo>
                  <a:pt x="0" y="0"/>
                </a:moveTo>
                <a:lnTo>
                  <a:pt x="3011567" y="0"/>
                </a:lnTo>
                <a:lnTo>
                  <a:pt x="3011567" y="3361530"/>
                </a:lnTo>
                <a:lnTo>
                  <a:pt x="0" y="3361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69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52231" y="395871"/>
            <a:ext cx="9044912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 IMPORTÂNCIA DO NPS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3532" y="6759875"/>
            <a:ext cx="8621886" cy="304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Entretanto há alguns pontos de atenção sobre a metodologia: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Lag temporal → é um indicador pós-fato.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Viés de resposta → a maioria dos clientes que não tiveram problemas não respondem.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Viés da nota → pode ser que para o cliente nota 7 é ótimo.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60"/>
    </mc:Choice>
    <mc:Fallback xmlns="">
      <p:transition spd="slow" advTm="461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434264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aphicFrame>
        <p:nvGraphicFramePr>
          <p:cNvPr id="17" name="Object 17"/>
          <p:cNvGraphicFramePr/>
          <p:nvPr/>
        </p:nvGraphicFramePr>
        <p:xfrm>
          <a:off x="2221350" y="2380287"/>
          <a:ext cx="56578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81800" imgH="4267200" progId="Excel.Sheet.12">
                  <p:embed/>
                </p:oleObj>
              </mc:Choice>
              <mc:Fallback>
                <p:oleObj name="Worksheet" r:id="rId2" imgW="6781800" imgH="4267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21350" y="2380287"/>
                        <a:ext cx="565785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 18"/>
          <p:cNvSpPr/>
          <p:nvPr/>
        </p:nvSpPr>
        <p:spPr>
          <a:xfrm>
            <a:off x="1845581" y="5359228"/>
            <a:ext cx="11338151" cy="4790369"/>
          </a:xfrm>
          <a:custGeom>
            <a:avLst/>
            <a:gdLst/>
            <a:ahLst/>
            <a:cxnLst/>
            <a:rect l="l" t="t" r="r" b="b"/>
            <a:pathLst>
              <a:path w="11338151" h="4790369">
                <a:moveTo>
                  <a:pt x="0" y="0"/>
                </a:moveTo>
                <a:lnTo>
                  <a:pt x="11338151" y="0"/>
                </a:lnTo>
                <a:lnTo>
                  <a:pt x="11338151" y="4790369"/>
                </a:lnTo>
                <a:lnTo>
                  <a:pt x="0" y="4790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45581" y="1586664"/>
            <a:ext cx="14087990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Estudo realizado com a última safra de compras, totalizando 2.500 pedidos de clientes distintos.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73371" y="736098"/>
            <a:ext cx="6072037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CENÁRIO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45407" y="1913706"/>
            <a:ext cx="695000" cy="265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9"/>
              </a:lnSpc>
              <a:spcBef>
                <a:spcPct val="0"/>
              </a:spcBef>
            </a:pPr>
            <a:r>
              <a:rPr lang="en-US" sz="13639" spc="-40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64213" y="2979502"/>
            <a:ext cx="3435061" cy="897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8"/>
              </a:lnSpc>
            </a:pPr>
            <a:r>
              <a:rPr lang="en-US" sz="4555" spc="-1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NPS = </a:t>
            </a:r>
            <a:r>
              <a:rPr lang="en-US" sz="4555" spc="-136">
                <a:solidFill>
                  <a:srgbClr val="FE0704"/>
                </a:solidFill>
                <a:latin typeface="Roboto Slab"/>
                <a:ea typeface="Roboto Slab"/>
                <a:cs typeface="Roboto Slab"/>
                <a:sym typeface="Roboto Slab"/>
              </a:rPr>
              <a:t>-80%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53"/>
    </mc:Choice>
    <mc:Fallback xmlns="">
      <p:transition spd="slow" advTm="1505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6833" y="1434264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51880" y="1470395"/>
            <a:ext cx="13519061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Alta Quantidade de Reclamações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2975213" y="8350319"/>
            <a:ext cx="795786" cy="726818"/>
          </a:xfrm>
          <a:custGeom>
            <a:avLst/>
            <a:gdLst/>
            <a:ahLst/>
            <a:cxnLst/>
            <a:rect l="l" t="t" r="r" b="b"/>
            <a:pathLst>
              <a:path w="795786" h="726818">
                <a:moveTo>
                  <a:pt x="795786" y="0"/>
                </a:moveTo>
                <a:lnTo>
                  <a:pt x="0" y="0"/>
                </a:lnTo>
                <a:lnTo>
                  <a:pt x="0" y="726818"/>
                </a:lnTo>
                <a:lnTo>
                  <a:pt x="795786" y="726818"/>
                </a:lnTo>
                <a:lnTo>
                  <a:pt x="7957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9" name="Object 19"/>
          <p:cNvGraphicFramePr/>
          <p:nvPr>
            <p:extLst>
              <p:ext uri="{D42A27DB-BD31-4B8C-83A1-F6EECF244321}">
                <p14:modId xmlns:p14="http://schemas.microsoft.com/office/powerpoint/2010/main" val="1245129621"/>
              </p:ext>
            </p:extLst>
          </p:nvPr>
        </p:nvGraphicFramePr>
        <p:xfrm>
          <a:off x="2087354" y="2191116"/>
          <a:ext cx="6004076" cy="817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874000" imgH="9804400" progId="Excel.Sheet.12">
                  <p:embed/>
                </p:oleObj>
              </mc:Choice>
              <mc:Fallback>
                <p:oleObj name="Worksheet" r:id="rId4" imgW="7874000" imgH="9804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87354" y="2191116"/>
                        <a:ext cx="6004076" cy="817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6137883" y="3281618"/>
            <a:ext cx="8642916" cy="561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Quanto maior a quantidade de reclamações, maiores são os problemas que ele teve. Portanto, pior é o score que o cliente  atribui.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Necessário investigar e aprofundar no motivo de reclamação: é devido ao Atraso? Atendimento? O produto veio com algum problema ou danificado?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 os dados obtidos, já é possível realizar algumas inferências.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363217" y="8448837"/>
            <a:ext cx="2804163" cy="14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300" b="1" spc="-69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99%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das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entregas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possuem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alguma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reclamação</a:t>
            </a:r>
            <a:endParaRPr lang="en-US" sz="2300" spc="-69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335397" y="1388192"/>
            <a:ext cx="5902174" cy="147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51"/>
              </a:lnSpc>
            </a:pP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Dos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2.500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pedidos, </a:t>
            </a:r>
          </a:p>
          <a:p>
            <a:pPr marL="0" lvl="0" indent="0" algn="ctr">
              <a:lnSpc>
                <a:spcPts val="6051"/>
              </a:lnSpc>
            </a:pP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2.477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têm reclamação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73371" y="736098"/>
            <a:ext cx="6072037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CENÁRIO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7"/>
    </mc:Choice>
    <mc:Fallback xmlns="">
      <p:transition spd="slow" advTm="113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434264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aphicFrame>
        <p:nvGraphicFramePr>
          <p:cNvPr id="17" name="Object 17"/>
          <p:cNvGraphicFramePr/>
          <p:nvPr>
            <p:extLst>
              <p:ext uri="{D42A27DB-BD31-4B8C-83A1-F6EECF244321}">
                <p14:modId xmlns:p14="http://schemas.microsoft.com/office/powerpoint/2010/main" val="3468080108"/>
              </p:ext>
            </p:extLst>
          </p:nvPr>
        </p:nvGraphicFramePr>
        <p:xfrm>
          <a:off x="1726395" y="2805574"/>
          <a:ext cx="5657850" cy="651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9600" imgH="7810500" progId="Excel.Sheet.12">
                  <p:embed/>
                </p:oleObj>
              </mc:Choice>
              <mc:Fallback>
                <p:oleObj name="Worksheet" r:id="rId2" imgW="6959600" imgH="781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6395" y="2805574"/>
                        <a:ext cx="5657850" cy="651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2384470" y="1705319"/>
            <a:ext cx="13519061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 na Entrega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47535" y="758716"/>
            <a:ext cx="12190812" cy="125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QUAIS FATORES MAIS IMPACTAM O NPS?</a:t>
            </a:r>
          </a:p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endParaRPr lang="en-US" sz="4492" b="1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726395" y="1643448"/>
            <a:ext cx="649782" cy="742994"/>
          </a:xfrm>
          <a:custGeom>
            <a:avLst/>
            <a:gdLst/>
            <a:ahLst/>
            <a:cxnLst/>
            <a:rect l="l" t="t" r="r" b="b"/>
            <a:pathLst>
              <a:path w="649782" h="742994">
                <a:moveTo>
                  <a:pt x="0" y="0"/>
                </a:moveTo>
                <a:lnTo>
                  <a:pt x="649782" y="0"/>
                </a:lnTo>
                <a:lnTo>
                  <a:pt x="649782" y="742994"/>
                </a:lnTo>
                <a:lnTo>
                  <a:pt x="0" y="742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156554" y="4518611"/>
            <a:ext cx="3355253" cy="3575154"/>
            <a:chOff x="0" y="0"/>
            <a:chExt cx="1055145" cy="11359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5145" cy="1135934"/>
            </a:xfrm>
            <a:custGeom>
              <a:avLst/>
              <a:gdLst/>
              <a:ahLst/>
              <a:cxnLst/>
              <a:rect l="l" t="t" r="r" b="b"/>
              <a:pathLst>
                <a:path w="1055145" h="1135934">
                  <a:moveTo>
                    <a:pt x="0" y="0"/>
                  </a:moveTo>
                  <a:lnTo>
                    <a:pt x="1055145" y="0"/>
                  </a:lnTo>
                  <a:lnTo>
                    <a:pt x="1055145" y="1135934"/>
                  </a:lnTo>
                  <a:lnTo>
                    <a:pt x="0" y="1135934"/>
                  </a:lnTo>
                  <a:close/>
                </a:path>
              </a:pathLst>
            </a:custGeom>
            <a:ln w="38100" cap="sq">
              <a:solidFill>
                <a:srgbClr val="FE0704"/>
              </a:solidFill>
              <a:prstDash val="dash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055145" cy="1231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flipH="1">
            <a:off x="2334495" y="8218272"/>
            <a:ext cx="795786" cy="726818"/>
          </a:xfrm>
          <a:custGeom>
            <a:avLst/>
            <a:gdLst/>
            <a:ahLst/>
            <a:cxnLst/>
            <a:rect l="l" t="t" r="r" b="b"/>
            <a:pathLst>
              <a:path w="795786" h="726818">
                <a:moveTo>
                  <a:pt x="795786" y="0"/>
                </a:moveTo>
                <a:lnTo>
                  <a:pt x="0" y="0"/>
                </a:lnTo>
                <a:lnTo>
                  <a:pt x="0" y="726818"/>
                </a:lnTo>
                <a:lnTo>
                  <a:pt x="795786" y="726818"/>
                </a:lnTo>
                <a:lnTo>
                  <a:pt x="79578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280336" y="3606356"/>
            <a:ext cx="8642916" cy="509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Quanto maior o atraso, maior as chances do cliente atribuir uma nota menor ao pedido.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Frustração na expectativa do cliente com a chegada de seu produto.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Indicativo de problema operacional na Logística.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 não é o único fator: mesmo entregando no prazo, o cliente nem sempre é promotor.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53570" y="8480412"/>
            <a:ext cx="3121862" cy="92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300" b="1" spc="-69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89%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das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entregas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são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spc="-69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feitas</a:t>
            </a:r>
            <a:r>
              <a:rPr lang="en-US" sz="2300" spc="-69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300" b="1" spc="-69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fora do </a:t>
            </a:r>
            <a:r>
              <a:rPr lang="en-US" sz="2300" b="1" spc="-69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prazo</a:t>
            </a:r>
            <a:endParaRPr lang="en-US" sz="2300" b="1" spc="-69" dirty="0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149741" y="1734198"/>
            <a:ext cx="5902174" cy="147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51"/>
              </a:lnSpc>
            </a:pP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Dos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2.500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pedidos, apenas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277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chegaram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 prazo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62"/>
    </mc:Choice>
    <mc:Fallback xmlns="">
      <p:transition spd="slow" advTm="4136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434264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84470" y="1643448"/>
            <a:ext cx="13519061" cy="79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Quantidade de Contatos </a:t>
            </a:r>
          </a:p>
          <a:p>
            <a:pPr algn="l">
              <a:lnSpc>
                <a:spcPts val="3171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Customer 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47535" y="758716"/>
            <a:ext cx="12190812" cy="125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QUAIS FATORES MAIS IMPACTAM O NPS?</a:t>
            </a:r>
          </a:p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endParaRPr lang="en-US" sz="4492" b="1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726395" y="1643448"/>
            <a:ext cx="649782" cy="742994"/>
          </a:xfrm>
          <a:custGeom>
            <a:avLst/>
            <a:gdLst/>
            <a:ahLst/>
            <a:cxnLst/>
            <a:rect l="l" t="t" r="r" b="b"/>
            <a:pathLst>
              <a:path w="649782" h="742994">
                <a:moveTo>
                  <a:pt x="0" y="0"/>
                </a:moveTo>
                <a:lnTo>
                  <a:pt x="649782" y="0"/>
                </a:lnTo>
                <a:lnTo>
                  <a:pt x="649782" y="742994"/>
                </a:lnTo>
                <a:lnTo>
                  <a:pt x="0" y="74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>
            <a:off x="2294281" y="8420681"/>
            <a:ext cx="795786" cy="726818"/>
          </a:xfrm>
          <a:custGeom>
            <a:avLst/>
            <a:gdLst/>
            <a:ahLst/>
            <a:cxnLst/>
            <a:rect l="l" t="t" r="r" b="b"/>
            <a:pathLst>
              <a:path w="795786" h="726818">
                <a:moveTo>
                  <a:pt x="795786" y="0"/>
                </a:moveTo>
                <a:lnTo>
                  <a:pt x="0" y="0"/>
                </a:lnTo>
                <a:lnTo>
                  <a:pt x="0" y="726818"/>
                </a:lnTo>
                <a:lnTo>
                  <a:pt x="795786" y="726818"/>
                </a:lnTo>
                <a:lnTo>
                  <a:pt x="7957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Object 21"/>
          <p:cNvGraphicFramePr/>
          <p:nvPr/>
        </p:nvGraphicFramePr>
        <p:xfrm>
          <a:off x="1471103" y="2436944"/>
          <a:ext cx="8558212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0261600" imgH="8001000" progId="Excel.Sheet.12">
                  <p:embed/>
                </p:oleObj>
              </mc:Choice>
              <mc:Fallback>
                <p:oleObj name="Worksheet" r:id="rId6" imgW="10261600" imgH="8001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1103" y="2436944"/>
                        <a:ext cx="8558212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6752221" y="3863531"/>
            <a:ext cx="8171031" cy="458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Alta correlação entre quantidade de contatos no customer service e quantidade de reclamações.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Necessária investigação para verificar o motivo dos acionamentos.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As equipes de atendimento estão qualificadas para resolução de problemas?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883759" y="8432923"/>
            <a:ext cx="4009171" cy="85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9"/>
              </a:lnSpc>
            </a:pPr>
            <a:r>
              <a:rPr lang="en-US" sz="2100" b="1" spc="-63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Todos </a:t>
            </a:r>
            <a:r>
              <a:rPr lang="en-US" sz="2100" b="1" spc="-63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os</a:t>
            </a:r>
            <a:r>
              <a:rPr lang="en-US" sz="2100" b="1" spc="-63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100" b="1" spc="-63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clientes</a:t>
            </a:r>
            <a:r>
              <a:rPr lang="en-US" sz="2100" b="1" spc="-63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que </a:t>
            </a:r>
            <a:r>
              <a:rPr lang="en-US" sz="2100" b="1" spc="-63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acionaram</a:t>
            </a:r>
            <a:r>
              <a:rPr lang="en-US" sz="2100" b="1" spc="-63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o CS </a:t>
            </a:r>
            <a:r>
              <a:rPr lang="en-US" sz="2100" b="1" spc="-63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tiveram</a:t>
            </a:r>
            <a:r>
              <a:rPr lang="en-US" sz="2100" b="1" spc="-63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100" b="1" spc="-63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reclamação</a:t>
            </a:r>
            <a:endParaRPr lang="en-US" sz="2100" b="1" spc="-63" dirty="0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165470" y="1716664"/>
            <a:ext cx="5902174" cy="147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51"/>
              </a:lnSpc>
            </a:pP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Dos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2.500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pedidos, apenas </a:t>
            </a:r>
            <a:r>
              <a:rPr lang="en-US" sz="3830" b="1" u="none" strike="noStrike" spc="-11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2.477</a:t>
            </a:r>
            <a:r>
              <a:rPr lang="en-US" sz="3830" u="none" strike="noStrike" spc="-11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tiveram acionamento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07"/>
    </mc:Choice>
    <mc:Fallback xmlns="">
      <p:transition spd="slow" advTm="2760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9034" y="1473326"/>
            <a:ext cx="7418473" cy="8852736"/>
            <a:chOff x="0" y="0"/>
            <a:chExt cx="812800" cy="969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39472" y="1849847"/>
            <a:ext cx="13519061" cy="39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Análise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Regional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47535" y="758716"/>
            <a:ext cx="12190812" cy="125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4492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QUAIS FATORES MAIS IMPACTAM O NPS?</a:t>
            </a:r>
          </a:p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endParaRPr lang="en-US" sz="4492" b="1" dirty="0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645999" y="1679580"/>
            <a:ext cx="729293" cy="729293"/>
          </a:xfrm>
          <a:custGeom>
            <a:avLst/>
            <a:gdLst/>
            <a:ahLst/>
            <a:cxnLst/>
            <a:rect l="l" t="t" r="r" b="b"/>
            <a:pathLst>
              <a:path w="729293" h="729293">
                <a:moveTo>
                  <a:pt x="0" y="0"/>
                </a:moveTo>
                <a:lnTo>
                  <a:pt x="729293" y="0"/>
                </a:lnTo>
                <a:lnTo>
                  <a:pt x="729293" y="729294"/>
                </a:lnTo>
                <a:lnTo>
                  <a:pt x="0" y="729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320498" y="1650298"/>
            <a:ext cx="5944244" cy="8498792"/>
          </a:xfrm>
          <a:custGeom>
            <a:avLst/>
            <a:gdLst/>
            <a:ahLst/>
            <a:cxnLst/>
            <a:rect l="l" t="t" r="r" b="b"/>
            <a:pathLst>
              <a:path w="5944244" h="8498792">
                <a:moveTo>
                  <a:pt x="0" y="0"/>
                </a:moveTo>
                <a:lnTo>
                  <a:pt x="5944244" y="0"/>
                </a:lnTo>
                <a:lnTo>
                  <a:pt x="5944244" y="8498793"/>
                </a:lnTo>
                <a:lnTo>
                  <a:pt x="0" y="8498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05" r="-1472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49467" y="2616327"/>
            <a:ext cx="8171031" cy="664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Não há concentração de NPS negativo em regiões específicas.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Foi analisada a questão do score com e sem atraso - também não há divergências significativas (todas abaixo de 2% entre si).</a:t>
            </a: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As correlações entre reclamação e contatos no customer service também se comportam de maneira semelhante.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0" lvl="1" indent="-259080" algn="l">
              <a:lnSpc>
                <a:spcPts val="4056"/>
              </a:lnSpc>
              <a:buFont typeface="Arial"/>
              <a:buChar char="•"/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Os fatores negativos se comportam no Brasil inteiro</a:t>
            </a:r>
          </a:p>
          <a:p>
            <a:pPr algn="l">
              <a:lnSpc>
                <a:spcPts val="4056"/>
              </a:lnSpc>
            </a:pPr>
            <a:endParaRPr lang="en-US" sz="2400" spc="-72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96"/>
    </mc:Choice>
    <mc:Fallback xmlns="">
      <p:transition spd="slow" advTm="199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544370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954403" y="2080383"/>
            <a:ext cx="647880" cy="647880"/>
          </a:xfrm>
          <a:custGeom>
            <a:avLst/>
            <a:gdLst/>
            <a:ahLst/>
            <a:cxnLst/>
            <a:rect l="l" t="t" r="r" b="b"/>
            <a:pathLst>
              <a:path w="647880" h="647880">
                <a:moveTo>
                  <a:pt x="0" y="0"/>
                </a:moveTo>
                <a:lnTo>
                  <a:pt x="647880" y="0"/>
                </a:lnTo>
                <a:lnTo>
                  <a:pt x="647880" y="647880"/>
                </a:lnTo>
                <a:lnTo>
                  <a:pt x="0" y="64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948938" y="4796429"/>
            <a:ext cx="658811" cy="671011"/>
          </a:xfrm>
          <a:custGeom>
            <a:avLst/>
            <a:gdLst/>
            <a:ahLst/>
            <a:cxnLst/>
            <a:rect l="l" t="t" r="r" b="b"/>
            <a:pathLst>
              <a:path w="658811" h="671011">
                <a:moveTo>
                  <a:pt x="0" y="0"/>
                </a:moveTo>
                <a:lnTo>
                  <a:pt x="658811" y="0"/>
                </a:lnTo>
                <a:lnTo>
                  <a:pt x="658811" y="671011"/>
                </a:lnTo>
                <a:lnTo>
                  <a:pt x="0" y="671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932542" y="6335953"/>
            <a:ext cx="658811" cy="671011"/>
          </a:xfrm>
          <a:custGeom>
            <a:avLst/>
            <a:gdLst/>
            <a:ahLst/>
            <a:cxnLst/>
            <a:rect l="l" t="t" r="r" b="b"/>
            <a:pathLst>
              <a:path w="658811" h="671011">
                <a:moveTo>
                  <a:pt x="0" y="0"/>
                </a:moveTo>
                <a:lnTo>
                  <a:pt x="658811" y="0"/>
                </a:lnTo>
                <a:lnTo>
                  <a:pt x="658811" y="671011"/>
                </a:lnTo>
                <a:lnTo>
                  <a:pt x="0" y="671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645043" y="2136357"/>
            <a:ext cx="11908297" cy="591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Clientes promotores possuem maior propensão a recompra em 30 dias.</a:t>
            </a:r>
          </a:p>
          <a:p>
            <a:pPr algn="l">
              <a:lnSpc>
                <a:spcPts val="3925"/>
              </a:lnSpc>
            </a:pPr>
            <a:endParaRPr lang="en-US" sz="2599" spc="-77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925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Clientes com maior score interno possuem maior tendência a terem maior score de NPS nos pedidos.</a:t>
            </a:r>
          </a:p>
          <a:p>
            <a:pPr algn="l">
              <a:lnSpc>
                <a:spcPts val="3925"/>
              </a:lnSpc>
            </a:pPr>
            <a:endParaRPr lang="en-US" sz="2599" spc="-77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925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valor da compra, percentual de desconto e o preço do frete não impactam diretamente no NPS.</a:t>
            </a:r>
          </a:p>
          <a:p>
            <a:pPr algn="l">
              <a:lnSpc>
                <a:spcPts val="3925"/>
              </a:lnSpc>
            </a:pPr>
            <a:endParaRPr lang="en-US" sz="2599" spc="-77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925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Informações como idade e tempo de relacionamento com a empresa também não impactam o NPS.</a:t>
            </a:r>
          </a:p>
          <a:p>
            <a:pPr algn="l">
              <a:lnSpc>
                <a:spcPts val="3925"/>
              </a:lnSpc>
            </a:pPr>
            <a:endParaRPr lang="en-US" sz="2599" spc="-77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925"/>
              </a:lnSpc>
            </a:pPr>
            <a:r>
              <a:rPr lang="en-US" sz="2599" spc="-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Não há concentração dos fatores por região do Brasil. O problema é geral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47535" y="1070416"/>
            <a:ext cx="12190812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OUTROS INSIGHTS PARA O NEGÓCIO</a:t>
            </a:r>
          </a:p>
        </p:txBody>
      </p:sp>
      <p:sp>
        <p:nvSpPr>
          <p:cNvPr id="22" name="Freeform 22"/>
          <p:cNvSpPr/>
          <p:nvPr/>
        </p:nvSpPr>
        <p:spPr>
          <a:xfrm>
            <a:off x="1954403" y="7535606"/>
            <a:ext cx="658811" cy="671011"/>
          </a:xfrm>
          <a:custGeom>
            <a:avLst/>
            <a:gdLst/>
            <a:ahLst/>
            <a:cxnLst/>
            <a:rect l="l" t="t" r="r" b="b"/>
            <a:pathLst>
              <a:path w="658811" h="671011">
                <a:moveTo>
                  <a:pt x="0" y="0"/>
                </a:moveTo>
                <a:lnTo>
                  <a:pt x="658811" y="0"/>
                </a:lnTo>
                <a:lnTo>
                  <a:pt x="658811" y="671011"/>
                </a:lnTo>
                <a:lnTo>
                  <a:pt x="0" y="671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932542" y="3281774"/>
            <a:ext cx="647880" cy="647880"/>
          </a:xfrm>
          <a:custGeom>
            <a:avLst/>
            <a:gdLst/>
            <a:ahLst/>
            <a:cxnLst/>
            <a:rect l="l" t="t" r="r" b="b"/>
            <a:pathLst>
              <a:path w="647880" h="647880">
                <a:moveTo>
                  <a:pt x="0" y="0"/>
                </a:moveTo>
                <a:lnTo>
                  <a:pt x="647880" y="0"/>
                </a:lnTo>
                <a:lnTo>
                  <a:pt x="647880" y="647880"/>
                </a:lnTo>
                <a:lnTo>
                  <a:pt x="0" y="64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16"/>
    </mc:Choice>
    <mc:Fallback xmlns="">
      <p:transition spd="slow" advTm="4301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544370"/>
            <a:ext cx="7418473" cy="8852736"/>
            <a:chOff x="0" y="0"/>
            <a:chExt cx="812800" cy="969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69944"/>
            </a:xfrm>
            <a:custGeom>
              <a:avLst/>
              <a:gdLst/>
              <a:ahLst/>
              <a:cxnLst/>
              <a:rect l="l" t="t" r="r" b="b"/>
              <a:pathLst>
                <a:path w="812800" h="969944">
                  <a:moveTo>
                    <a:pt x="0" y="0"/>
                  </a:moveTo>
                  <a:lnTo>
                    <a:pt x="812800" y="0"/>
                  </a:lnTo>
                  <a:lnTo>
                    <a:pt x="812800" y="969944"/>
                  </a:lnTo>
                  <a:lnTo>
                    <a:pt x="0" y="969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1065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319683" y="-960499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70941" y="-603021"/>
            <a:ext cx="3305489" cy="11216898"/>
            <a:chOff x="0" y="0"/>
            <a:chExt cx="1408933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933" cy="4781095"/>
            </a:xfrm>
            <a:custGeom>
              <a:avLst/>
              <a:gdLst/>
              <a:ahLst/>
              <a:cxnLst/>
              <a:rect l="l" t="t" r="r" b="b"/>
              <a:pathLst>
                <a:path w="1408933" h="4781095">
                  <a:moveTo>
                    <a:pt x="0" y="0"/>
                  </a:moveTo>
                  <a:lnTo>
                    <a:pt x="1408933" y="0"/>
                  </a:lnTo>
                  <a:lnTo>
                    <a:pt x="1408933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408933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32312" y="399391"/>
            <a:ext cx="1468157" cy="1468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77847" y="1219200"/>
            <a:ext cx="9837306" cy="8863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599" b="1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Revisão</a:t>
            </a:r>
            <a:r>
              <a:rPr lang="en-US" sz="2599" b="1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da </a:t>
            </a:r>
            <a:r>
              <a:rPr lang="en-US" sz="2599" b="1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Esteira</a:t>
            </a:r>
            <a:r>
              <a:rPr lang="en-US" sz="2599" b="1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99" b="1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Logística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Quais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são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as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principais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causas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? 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Quais Lead-Times antes e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após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expedição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?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prazos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prometidos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são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factíveis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com 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capacidade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?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Será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necessário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expandir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frota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?</a:t>
            </a:r>
          </a:p>
          <a:p>
            <a:pPr algn="l">
              <a:lnSpc>
                <a:spcPts val="3327"/>
              </a:lnSpc>
            </a:pPr>
            <a:endParaRPr lang="en-US" sz="2599" u="none" strike="noStrike" spc="-77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327"/>
              </a:lnSpc>
            </a:pP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Treinamento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e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Capacitação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do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Atendimento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Levantamento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dos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principais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motivos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acionamento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61339" lvl="1" indent="-280669">
              <a:lnSpc>
                <a:spcPts val="3327"/>
              </a:lnSpc>
              <a:buFont typeface="Arial"/>
              <a:buChar char="•"/>
            </a:pP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Revisão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 onboarding e script do </a:t>
            </a:r>
            <a:r>
              <a:rPr lang="en-US" sz="2599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atendente</a:t>
            </a:r>
            <a:r>
              <a:rPr lang="en-US" sz="2599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 lang="en-US" sz="2599" u="none" strike="noStrike" spc="-77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Treinamentos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para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todas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as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unidades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Brasil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algn="l">
              <a:lnSpc>
                <a:spcPts val="3327"/>
              </a:lnSpc>
            </a:pPr>
            <a:endParaRPr lang="en-US" sz="2599" u="none" strike="noStrike" spc="-77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327"/>
              </a:lnSpc>
            </a:pP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Ações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em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Caso de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Atraso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Comunicação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clara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com o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cliente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(Mercado Livre 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Ifood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).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Cupons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desconto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devido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(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Aliexpress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Shopee).</a:t>
            </a:r>
          </a:p>
          <a:p>
            <a:pPr algn="l">
              <a:lnSpc>
                <a:spcPts val="3327"/>
              </a:lnSpc>
            </a:pPr>
            <a:endParaRPr lang="en-US" sz="2599" u="none" strike="noStrike" spc="-77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3327"/>
              </a:lnSpc>
            </a:pP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Limitações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e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Riscos</a:t>
            </a:r>
            <a:r>
              <a:rPr lang="en-US" sz="2599" b="1" u="none" strike="noStrike" spc="-77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da </a:t>
            </a:r>
            <a:r>
              <a:rPr lang="en-US" sz="2599" b="1" u="none" strike="noStrike" spc="-77" dirty="0" err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Estratégia</a:t>
            </a:r>
            <a:endParaRPr lang="en-US" sz="2599" b="1" u="none" strike="noStrike" spc="-77" dirty="0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Será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necessário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CAPEX para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implantação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?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Necessário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levantamento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dados para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atingir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as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causas-raízes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dos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problemas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atraso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atendimento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561339" lvl="1" indent="-280669" algn="l">
              <a:lnSpc>
                <a:spcPts val="3327"/>
              </a:lnSpc>
              <a:buFont typeface="Arial"/>
              <a:buChar char="•"/>
            </a:pP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CRM,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Operações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 Pricing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deverão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analisar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viabilidade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das </a:t>
            </a:r>
            <a:r>
              <a:rPr lang="en-US" sz="2599" u="none" strike="noStrike" spc="-77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ações</a:t>
            </a:r>
            <a:r>
              <a:rPr lang="en-US" sz="2599" u="none" strike="noStrike" spc="-77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246394" y="2212291"/>
            <a:ext cx="3224547" cy="3413301"/>
          </a:xfrm>
          <a:custGeom>
            <a:avLst/>
            <a:gdLst/>
            <a:ahLst/>
            <a:cxnLst/>
            <a:rect l="l" t="t" r="r" b="b"/>
            <a:pathLst>
              <a:path w="3224547" h="3413301">
                <a:moveTo>
                  <a:pt x="0" y="0"/>
                </a:moveTo>
                <a:lnTo>
                  <a:pt x="3224547" y="0"/>
                </a:lnTo>
                <a:lnTo>
                  <a:pt x="3224547" y="3413301"/>
                </a:lnTo>
                <a:lnTo>
                  <a:pt x="0" y="3413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99" t="-5190" r="-7525" b="-8104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136287" y="6299166"/>
            <a:ext cx="3224547" cy="3790860"/>
          </a:xfrm>
          <a:custGeom>
            <a:avLst/>
            <a:gdLst/>
            <a:ahLst/>
            <a:cxnLst/>
            <a:rect l="l" t="t" r="r" b="b"/>
            <a:pathLst>
              <a:path w="3224547" h="3790860">
                <a:moveTo>
                  <a:pt x="0" y="0"/>
                </a:moveTo>
                <a:lnTo>
                  <a:pt x="3224547" y="0"/>
                </a:lnTo>
                <a:lnTo>
                  <a:pt x="3224547" y="3790859"/>
                </a:lnTo>
                <a:lnTo>
                  <a:pt x="0" y="3790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61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60292" y="1238250"/>
            <a:ext cx="840783" cy="854770"/>
          </a:xfrm>
          <a:custGeom>
            <a:avLst/>
            <a:gdLst/>
            <a:ahLst/>
            <a:cxnLst/>
            <a:rect l="l" t="t" r="r" b="b"/>
            <a:pathLst>
              <a:path w="840783" h="854770">
                <a:moveTo>
                  <a:pt x="0" y="0"/>
                </a:moveTo>
                <a:lnTo>
                  <a:pt x="840783" y="0"/>
                </a:lnTo>
                <a:lnTo>
                  <a:pt x="840783" y="854770"/>
                </a:lnTo>
                <a:lnTo>
                  <a:pt x="0" y="854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52803" y="3697149"/>
            <a:ext cx="844143" cy="799634"/>
          </a:xfrm>
          <a:custGeom>
            <a:avLst/>
            <a:gdLst/>
            <a:ahLst/>
            <a:cxnLst/>
            <a:rect l="l" t="t" r="r" b="b"/>
            <a:pathLst>
              <a:path w="844143" h="799634">
                <a:moveTo>
                  <a:pt x="0" y="0"/>
                </a:moveTo>
                <a:lnTo>
                  <a:pt x="844144" y="0"/>
                </a:lnTo>
                <a:lnTo>
                  <a:pt x="844144" y="799633"/>
                </a:lnTo>
                <a:lnTo>
                  <a:pt x="0" y="799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17312" y="7495037"/>
            <a:ext cx="708577" cy="699558"/>
          </a:xfrm>
          <a:custGeom>
            <a:avLst/>
            <a:gdLst/>
            <a:ahLst/>
            <a:cxnLst/>
            <a:rect l="l" t="t" r="r" b="b"/>
            <a:pathLst>
              <a:path w="708577" h="699558">
                <a:moveTo>
                  <a:pt x="0" y="0"/>
                </a:moveTo>
                <a:lnTo>
                  <a:pt x="708576" y="0"/>
                </a:lnTo>
                <a:lnTo>
                  <a:pt x="708576" y="699558"/>
                </a:lnTo>
                <a:lnTo>
                  <a:pt x="0" y="699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723862" y="5755432"/>
            <a:ext cx="702027" cy="669709"/>
          </a:xfrm>
          <a:custGeom>
            <a:avLst/>
            <a:gdLst/>
            <a:ahLst/>
            <a:cxnLst/>
            <a:rect l="l" t="t" r="r" b="b"/>
            <a:pathLst>
              <a:path w="702027" h="669709">
                <a:moveTo>
                  <a:pt x="0" y="0"/>
                </a:moveTo>
                <a:lnTo>
                  <a:pt x="702026" y="0"/>
                </a:lnTo>
                <a:lnTo>
                  <a:pt x="702026" y="669709"/>
                </a:lnTo>
                <a:lnTo>
                  <a:pt x="0" y="6697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933" b="-1938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080683" y="500640"/>
            <a:ext cx="12190812" cy="63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1"/>
              </a:lnSpc>
              <a:spcBef>
                <a:spcPct val="0"/>
              </a:spcBef>
            </a:pPr>
            <a:r>
              <a:rPr lang="en-US" sz="44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PLANO DE AÇÃO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973"/>
    </mc:Choice>
    <mc:Fallback xmlns="">
      <p:transition spd="slow" advTm="7697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30169" y="7407407"/>
            <a:ext cx="1224101" cy="12241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9072" y="1055420"/>
            <a:ext cx="1675774" cy="16757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56697" y="802843"/>
            <a:ext cx="8681313" cy="86813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593989" y="-907041"/>
            <a:ext cx="3924921" cy="39249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43423" y="4097836"/>
            <a:ext cx="14531439" cy="185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23"/>
              </a:lnSpc>
            </a:pPr>
            <a:r>
              <a:rPr lang="en-US" sz="13021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OBRIGADO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98729" y="6131948"/>
            <a:ext cx="14531439" cy="100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DARWIN VALENTE 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DIRETORIA NEGÓCIOS PF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MAIO/2026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69"/>
    </mc:Choice>
    <mc:Fallback xmlns="">
      <p:transition spd="slow" advTm="556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774</Words>
  <Application>Microsoft Office PowerPoint</Application>
  <PresentationFormat>Personalizar</PresentationFormat>
  <Paragraphs>106</Paragraphs>
  <Slides>11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Calibri</vt:lpstr>
      <vt:lpstr>Roboto Slab Bold</vt:lpstr>
      <vt:lpstr>Arial</vt:lpstr>
      <vt:lpstr>Roboto Slab</vt:lpstr>
      <vt:lpstr>Roboto Condensed</vt:lpstr>
      <vt:lpstr>Office Theme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brainstorm</dc:title>
  <dc:creator>Darwin Rafael Valente</dc:creator>
  <cp:lastModifiedBy>Darwin Rafael Valente</cp:lastModifiedBy>
  <cp:revision>3</cp:revision>
  <dcterms:created xsi:type="dcterms:W3CDTF">2006-08-16T00:00:00Z</dcterms:created>
  <dcterms:modified xsi:type="dcterms:W3CDTF">2026-05-05T01:44:09Z</dcterms:modified>
  <dc:identifier>DAHIhqb1HjU</dc:identifier>
</cp:coreProperties>
</file>